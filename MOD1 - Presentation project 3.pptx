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 autoCompressPictures="0">
  <p:sldMasterIdLst>
    <p:sldMasterId id="2147483659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127" d="100"/>
          <a:sy n="127" d="100"/>
        </p:scale>
        <p:origin x="108" y="180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7163df6444_0_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7163df6444_0_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712ee476a6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712ee476a6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712ee476a6_0_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712ee476a6_0_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712ee476a6_0_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712ee476a6_0_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712ee476a6_0_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712ee476a6_0_2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712ee476a6_0_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712ee476a6_0_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g712ee476a6_0_4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3" name="Google Shape;103;g712ee476a6_0_4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g712ee476a6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" name="Google Shape;113;g712ee476a6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712ee476a6_0_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712ee476a6_0_5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712ee476a6_0_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712ee476a6_0_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g712ee476a6_0_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" name="Google Shape;142;g712ee476a6_0_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g712ee476a6_0_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" name="Google Shape;149;g712ee476a6_0_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g7148ca9cae_1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6" name="Google Shape;156;g7148ca9cae_1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g712ee476a6_0_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" name="Google Shape;163;g712ee476a6_0_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6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08988" y="5"/>
            <a:ext cx="8535025" cy="51435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p13"/>
          <p:cNvSpPr txBox="1"/>
          <p:nvPr/>
        </p:nvSpPr>
        <p:spPr>
          <a:xfrm>
            <a:off x="5583000" y="3626725"/>
            <a:ext cx="3249300" cy="1378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David </a:t>
            </a:r>
            <a:r>
              <a:rPr lang="de" dirty="0" smtClean="0"/>
              <a:t>Nwoye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/>
              <a:t>Date: 16.03.2020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Outline</a:t>
            </a:r>
            <a:endParaRPr/>
          </a:p>
        </p:txBody>
      </p:sp>
      <p:sp>
        <p:nvSpPr>
          <p:cNvPr id="61" name="Google Shape;61;p1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Introduction</a:t>
            </a:r>
            <a:endParaRPr>
              <a:solidFill>
                <a:srgbClr val="000000"/>
              </a:solidFill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Problem</a:t>
            </a:r>
            <a:endParaRPr>
              <a:solidFill>
                <a:srgbClr val="000000"/>
              </a:solidFill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Matrix Model</a:t>
            </a:r>
            <a:endParaRPr>
              <a:solidFill>
                <a:srgbClr val="000000"/>
              </a:solidFill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Project Steps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Methods</a:t>
            </a:r>
            <a:endParaRPr>
              <a:solidFill>
                <a:srgbClr val="000000"/>
              </a:solidFill>
            </a:endParaRPr>
          </a:p>
          <a:p>
            <a:pPr marL="914400" lvl="0" indent="-3429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R-code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Results and Discussion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45720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Conclusion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</p:txBody>
      </p:sp>
      <p:sp>
        <p:nvSpPr>
          <p:cNvPr id="62" name="Google Shape;62;p1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2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Introduction</a:t>
            </a:r>
            <a:endParaRPr/>
          </a:p>
        </p:txBody>
      </p:sp>
      <p:sp>
        <p:nvSpPr>
          <p:cNvPr id="68" name="Google Shape;68;p15"/>
          <p:cNvSpPr txBox="1">
            <a:spLocks noGrp="1"/>
          </p:cNvSpPr>
          <p:nvPr>
            <p:ph type="body" idx="1"/>
          </p:nvPr>
        </p:nvSpPr>
        <p:spPr>
          <a:xfrm>
            <a:off x="311702" y="12468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Lord Howe Island is located on the eastern coast of Australia.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Island consists of many unique flora and fauna species endemic to the island which are also threatened by invasive species.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Native fauna are usually at risk due to the presence of invasive species.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Invasive species have the potential to transform a specific environment to complete monocultures.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6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Modelling is an approach that is increasingly used to tackle the problem posed by invasive species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69" name="Google Shape;69;p1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3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The Problem</a:t>
            </a:r>
            <a:endParaRPr/>
          </a:p>
        </p:txBody>
      </p:sp>
      <p:sp>
        <p:nvSpPr>
          <p:cNvPr id="75" name="Google Shape;75;p16"/>
          <p:cNvSpPr txBox="1">
            <a:spLocks noGrp="1"/>
          </p:cNvSpPr>
          <p:nvPr>
            <p:ph type="body" idx="1"/>
          </p:nvPr>
        </p:nvSpPr>
        <p:spPr>
          <a:xfrm>
            <a:off x="0" y="101772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Lord Howe Island has over the years been threatened by both flora and fauna invasive species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most serious threat to the Island is the cherry guava crop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Since the beginning of the weed management program, 700,000 cherry guava plants from all life stages have been removed but the cherry guava weeds are still widespread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de">
                <a:solidFill>
                  <a:srgbClr val="000000"/>
                </a:solidFill>
              </a:rPr>
              <a:t>Research aim: How much removal (per year) is needed to control the cherry guava crop?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76" name="Google Shape;76;p1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4</a:t>
            </a:fld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Why Matrix Model?</a:t>
            </a:r>
            <a:endParaRPr/>
          </a:p>
        </p:txBody>
      </p:sp>
      <p:sp>
        <p:nvSpPr>
          <p:cNvPr id="82" name="Google Shape;82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The cherry guava plant is characterised by different life stages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Matrix models are an elegant way to handle population dynamics with different life stages (or age classes)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Calculation of important parameters (growth rate, stable stage structure)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Potential important information would be lost if a simpler model would have been chosen (~ treat all Individuals as equivalent)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/>
          </a:p>
          <a:p>
            <a:pPr marL="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83" name="Google Shape;83;p1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5</a:t>
            </a:fld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Matrix Model</a:t>
            </a:r>
            <a:endParaRPr/>
          </a:p>
        </p:txBody>
      </p:sp>
      <p:pic>
        <p:nvPicPr>
          <p:cNvPr id="89" name="Google Shape;89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170125"/>
            <a:ext cx="5114400" cy="2005550"/>
          </a:xfrm>
          <a:prstGeom prst="rect">
            <a:avLst/>
          </a:prstGeom>
          <a:noFill/>
          <a:ln>
            <a:noFill/>
          </a:ln>
        </p:spPr>
      </p:pic>
      <p:sp>
        <p:nvSpPr>
          <p:cNvPr id="90" name="Google Shape;90;p18"/>
          <p:cNvSpPr txBox="1"/>
          <p:nvPr/>
        </p:nvSpPr>
        <p:spPr>
          <a:xfrm>
            <a:off x="4643400" y="4305525"/>
            <a:ext cx="4188900" cy="407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N</a:t>
            </a:r>
            <a:r>
              <a:rPr lang="de" sz="1000"/>
              <a:t>t+1</a:t>
            </a:r>
            <a:r>
              <a:rPr lang="de"/>
              <a:t> = N</a:t>
            </a:r>
            <a:r>
              <a:rPr lang="de" sz="1000"/>
              <a:t>t</a:t>
            </a:r>
            <a:r>
              <a:rPr lang="de"/>
              <a:t>  * Transition Matrix (Lefkovitch-Matrix)</a:t>
            </a:r>
            <a:endParaRPr/>
          </a:p>
        </p:txBody>
      </p:sp>
      <p:pic>
        <p:nvPicPr>
          <p:cNvPr id="91" name="Google Shape;91;p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643400" y="3068600"/>
            <a:ext cx="3954149" cy="1298700"/>
          </a:xfrm>
          <a:prstGeom prst="rect">
            <a:avLst/>
          </a:prstGeom>
          <a:noFill/>
          <a:ln>
            <a:noFill/>
          </a:ln>
        </p:spPr>
      </p:pic>
      <p:sp>
        <p:nvSpPr>
          <p:cNvPr id="92" name="Google Shape;9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6</a:t>
            </a:fld>
            <a:endParaRPr/>
          </a:p>
        </p:txBody>
      </p:sp>
      <p:sp>
        <p:nvSpPr>
          <p:cNvPr id="93" name="Google Shape;93;p18"/>
          <p:cNvSpPr txBox="1"/>
          <p:nvPr/>
        </p:nvSpPr>
        <p:spPr>
          <a:xfrm>
            <a:off x="311700" y="2960650"/>
            <a:ext cx="7226100" cy="843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16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200">
                <a:solidFill>
                  <a:schemeClr val="dk1"/>
                </a:solidFill>
              </a:rPr>
              <a:t>Baker et al. 2018</a:t>
            </a:r>
            <a:endParaRPr sz="12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Project Steps</a:t>
            </a:r>
            <a:endParaRPr/>
          </a:p>
        </p:txBody>
      </p:sp>
      <p:sp>
        <p:nvSpPr>
          <p:cNvPr id="99" name="Google Shape;99;p19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1.Step: Calculate the population dynamics over 25 years with the initial abundances of: Seedlings: 1000, Juveniles: 100, Matures: 10</a:t>
            </a: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2.Step: Calculate finite growth rate and stable stage structure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	3.Step: Introduce removal of all life stages (10% and 35%)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r>
              <a:rPr lang="de">
                <a:solidFill>
                  <a:srgbClr val="000000"/>
                </a:solidFill>
              </a:rPr>
              <a:t>	4.Step: Add density dependence (with an area of 9 ha)</a:t>
            </a:r>
            <a:endParaRPr>
              <a:solidFill>
                <a:srgbClr val="000000"/>
              </a:solidFill>
            </a:endParaRPr>
          </a:p>
          <a:p>
            <a:pPr marL="0" lvl="0" indent="0" algn="l" rtl="0">
              <a:spcBef>
                <a:spcPts val="1600"/>
              </a:spcBef>
              <a:spcAft>
                <a:spcPts val="0"/>
              </a:spcAft>
              <a:buNone/>
            </a:pPr>
            <a:endParaRPr>
              <a:solidFill>
                <a:srgbClr val="000000"/>
              </a:solidFill>
            </a:endParaRPr>
          </a:p>
          <a:p>
            <a:pPr marL="457200" lvl="0" indent="0" algn="l" rtl="0">
              <a:spcBef>
                <a:spcPts val="1600"/>
              </a:spcBef>
              <a:spcAft>
                <a:spcPts val="1600"/>
              </a:spcAft>
              <a:buNone/>
            </a:pPr>
            <a:r>
              <a:rPr lang="de" sz="1500">
                <a:solidFill>
                  <a:srgbClr val="000000"/>
                </a:solidFill>
              </a:rPr>
              <a:t>all the parameters used for this model was provided by Baker et al. 2018</a:t>
            </a:r>
            <a:endParaRPr sz="1500">
              <a:solidFill>
                <a:srgbClr val="000000"/>
              </a:solidFill>
            </a:endParaRPr>
          </a:p>
        </p:txBody>
      </p:sp>
      <p:sp>
        <p:nvSpPr>
          <p:cNvPr id="100" name="Google Shape;100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7</a:t>
            </a:fld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0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R-code for Step 1</a:t>
            </a:r>
            <a:endParaRPr/>
          </a:p>
        </p:txBody>
      </p:sp>
      <p:sp>
        <p:nvSpPr>
          <p:cNvPr id="106" name="Google Shape;106;p20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Lefkovitch matrix for cherry guava 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cherry_MTR = rbind(c(s1*d, 0.000, f3*d),c(g1*d, s2*d, 0.000),c(0.000, g2*d, s3))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starting population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ini_N &lt;- matrix(c(1000,100,10), ncol=1)    	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matrix for the population development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YEARs &lt;- 25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pop_MTR &lt;- matrix(0,nrow=3,ncol=YEARs+1)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pop_MTR[,1] &lt;- ini_N              	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calculation of the population development over time via for-loop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for(t in 2:(YEARs+1)){ 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pop_MTR[,t] &lt;-  pop_MTR[,t-1] %*% cherry_MTR	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07" name="Google Shape;107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7525" y="3308775"/>
            <a:ext cx="2768575" cy="9093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08" name="Google Shape;108;p20"/>
          <p:cNvSpPr/>
          <p:nvPr/>
        </p:nvSpPr>
        <p:spPr>
          <a:xfrm>
            <a:off x="4040650" y="3720225"/>
            <a:ext cx="1322100" cy="864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9" name="Google Shape;10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8</a:t>
            </a:fld>
            <a:endParaRPr/>
          </a:p>
        </p:txBody>
      </p:sp>
      <p:sp>
        <p:nvSpPr>
          <p:cNvPr id="110" name="Google Shape;110;p20"/>
          <p:cNvSpPr txBox="1"/>
          <p:nvPr/>
        </p:nvSpPr>
        <p:spPr>
          <a:xfrm>
            <a:off x="7237300" y="1435575"/>
            <a:ext cx="1078800" cy="13368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Parameters:</a:t>
            </a:r>
            <a:endParaRPr sz="9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s1 &lt;- 0.27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s2 &lt;- 0.272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s3 &lt;- 0.305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g1 &lt;- 0.398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g2 &lt;- 0.366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f3 &lt;- 9.74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d  &lt;- 1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2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R-code for Step 2, 3 and 4</a:t>
            </a:r>
            <a:endParaRPr/>
          </a:p>
        </p:txBody>
      </p:sp>
      <p:sp>
        <p:nvSpPr>
          <p:cNvPr id="116" name="Google Shape;116;p2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Finite rate of exponential growth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Lambda &lt;- as.numeric(eigen(cherry_MTR)$values[1])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Stable stage structure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SAD &lt;- as.numeric(eigen(cherry_MTR)$vectors[,1])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SSS &lt;- SAD/sum(SAD)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Introduce removal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Removal &lt;- 0.1 # 0.35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for(t in 2:(YEARs+1)){ 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pop_MTR[,t] &lt;-  cherry_MTR %*% pop_MTR[,t-1] %*% </a:t>
            </a:r>
            <a:r>
              <a:rPr lang="de" sz="1000" b="1">
                <a:solidFill>
                  <a:schemeClr val="dk1"/>
                </a:solidFill>
                <a:highlight>
                  <a:srgbClr val="B6D7A8"/>
                </a:highlight>
                <a:latin typeface="Roboto Mono"/>
                <a:ea typeface="Roboto Mono"/>
                <a:cs typeface="Roboto Mono"/>
                <a:sym typeface="Roboto Mono"/>
              </a:rPr>
              <a:t>(1-Removal)</a:t>
            </a: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Add density dependency (d) parameter</a:t>
            </a:r>
            <a:endParaRPr sz="10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for(t in 2:(YEARs+1)){  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</a:t>
            </a:r>
            <a:r>
              <a:rPr lang="de" sz="1000" b="1">
                <a:solidFill>
                  <a:schemeClr val="dk1"/>
                </a:solidFill>
                <a:highlight>
                  <a:srgbClr val="B6D7A8"/>
                </a:highlight>
                <a:latin typeface="Roboto Mono"/>
                <a:ea typeface="Roboto Mono"/>
                <a:cs typeface="Roboto Mono"/>
                <a:sym typeface="Roboto Mono"/>
              </a:rPr>
              <a:t>d &lt;- 1 - ((gammaS*pop_MTR[1,t-1]+gammaJ*pop_MTR[2,t-1]+gammaM*pop_MTR[3,t-1])/A)</a:t>
            </a:r>
            <a:endParaRPr sz="1000" b="1">
              <a:solidFill>
                <a:schemeClr val="dk1"/>
              </a:solidFill>
              <a:highlight>
                <a:srgbClr val="B6D7A8"/>
              </a:highlight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cherry_MTR = rbind(c(s1*d, 0.000, f3*d),c(g1*d, s2*d, 0.000),c(0.000, g2*d, s3))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  pop_MTR[,t] &lt;-  cherry_MTR %*% pop_MTR[,t-1]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 sz="1000" b="1">
                <a:solidFill>
                  <a:schemeClr val="dk1"/>
                </a:solidFill>
                <a:latin typeface="Roboto Mono"/>
                <a:ea typeface="Roboto Mono"/>
                <a:cs typeface="Roboto Mono"/>
                <a:sym typeface="Roboto Mono"/>
              </a:rPr>
              <a:t>}</a:t>
            </a:r>
            <a:endParaRPr sz="1000" b="1">
              <a:solidFill>
                <a:schemeClr val="dk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pic>
        <p:nvPicPr>
          <p:cNvPr id="117" name="Google Shape;117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804350" y="2648050"/>
            <a:ext cx="3027950" cy="66355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18" name="Google Shape;118;p21"/>
          <p:cNvSpPr/>
          <p:nvPr/>
        </p:nvSpPr>
        <p:spPr>
          <a:xfrm>
            <a:off x="6017750" y="3373400"/>
            <a:ext cx="173100" cy="339900"/>
          </a:xfrm>
          <a:prstGeom prst="down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9" name="Google Shape;119;p21"/>
          <p:cNvSpPr txBox="1"/>
          <p:nvPr/>
        </p:nvSpPr>
        <p:spPr>
          <a:xfrm>
            <a:off x="5041550" y="1276888"/>
            <a:ext cx="3336300" cy="93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Eigenvalue of Lefkovitch matrix</a:t>
            </a: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5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500"/>
              <a:t>Eigenvector of </a:t>
            </a:r>
            <a:r>
              <a:rPr lang="de" sz="1500">
                <a:solidFill>
                  <a:schemeClr val="dk1"/>
                </a:solidFill>
              </a:rPr>
              <a:t>Lefkovitch matrix</a:t>
            </a:r>
            <a:endParaRPr sz="1500"/>
          </a:p>
        </p:txBody>
      </p:sp>
      <p:sp>
        <p:nvSpPr>
          <p:cNvPr id="120" name="Google Shape;120;p21"/>
          <p:cNvSpPr/>
          <p:nvPr/>
        </p:nvSpPr>
        <p:spPr>
          <a:xfrm>
            <a:off x="4460800" y="1444925"/>
            <a:ext cx="494400" cy="864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1" name="Google Shape;121;p21"/>
          <p:cNvSpPr/>
          <p:nvPr/>
        </p:nvSpPr>
        <p:spPr>
          <a:xfrm>
            <a:off x="4572000" y="1976250"/>
            <a:ext cx="407700" cy="86400"/>
          </a:xfrm>
          <a:prstGeom prst="leftArrow">
            <a:avLst>
              <a:gd name="adj1" fmla="val 50000"/>
              <a:gd name="adj2" fmla="val 50000"/>
            </a:avLst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2" name="Google Shape;122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9</a:t>
            </a:fld>
            <a:endParaRPr/>
          </a:p>
        </p:txBody>
      </p:sp>
      <p:sp>
        <p:nvSpPr>
          <p:cNvPr id="123" name="Google Shape;123;p21"/>
          <p:cNvSpPr txBox="1"/>
          <p:nvPr/>
        </p:nvSpPr>
        <p:spPr>
          <a:xfrm>
            <a:off x="7112400" y="3311600"/>
            <a:ext cx="1719900" cy="939000"/>
          </a:xfrm>
          <a:prstGeom prst="rect">
            <a:avLst/>
          </a:prstGeom>
          <a:noFill/>
          <a:ln w="9525" cap="flat" cmpd="sng">
            <a:solidFill>
              <a:srgbClr val="434343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solidFill>
                  <a:srgbClr val="38761D"/>
                </a:solidFill>
                <a:latin typeface="Roboto Mono"/>
                <a:ea typeface="Roboto Mono"/>
                <a:cs typeface="Roboto Mono"/>
                <a:sym typeface="Roboto Mono"/>
              </a:rPr>
              <a:t># Parameters:</a:t>
            </a:r>
            <a:endParaRPr sz="900" b="1">
              <a:solidFill>
                <a:srgbClr val="38761D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gammaS &lt;- 8.76*10^(-5)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gammaJ &lt;- 1.02*10^(-4)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gammaM &lt;- 3.65*10^(-4)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900" b="1">
                <a:latin typeface="Roboto Mono"/>
                <a:ea typeface="Roboto Mono"/>
                <a:cs typeface="Roboto Mono"/>
                <a:sym typeface="Roboto Mono"/>
              </a:rPr>
              <a:t>A      &lt;- 9 </a:t>
            </a:r>
            <a:endParaRPr sz="900" b="1">
              <a:latin typeface="Roboto Mono"/>
              <a:ea typeface="Roboto Mono"/>
              <a:cs typeface="Roboto Mono"/>
              <a:sym typeface="Roboto Mono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8" name="Google Shape;128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72000" y="1152363"/>
            <a:ext cx="4407550" cy="3086005"/>
          </a:xfrm>
          <a:prstGeom prst="rect">
            <a:avLst/>
          </a:prstGeom>
          <a:noFill/>
          <a:ln>
            <a:noFill/>
          </a:ln>
        </p:spPr>
      </p:pic>
      <p:sp>
        <p:nvSpPr>
          <p:cNvPr id="129" name="Google Shape;129;p22"/>
          <p:cNvSpPr txBox="1"/>
          <p:nvPr/>
        </p:nvSpPr>
        <p:spPr>
          <a:xfrm>
            <a:off x="329425" y="444875"/>
            <a:ext cx="4077600" cy="963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sz="2800">
                <a:solidFill>
                  <a:schemeClr val="dk1"/>
                </a:solidFill>
              </a:rPr>
              <a:t>Results and Discussion</a:t>
            </a:r>
            <a:endParaRPr/>
          </a:p>
        </p:txBody>
      </p:sp>
      <p:pic>
        <p:nvPicPr>
          <p:cNvPr id="130" name="Google Shape;130;p2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64450" y="1152354"/>
            <a:ext cx="4407550" cy="3086033"/>
          </a:xfrm>
          <a:prstGeom prst="rect">
            <a:avLst/>
          </a:prstGeom>
          <a:noFill/>
          <a:ln>
            <a:noFill/>
          </a:ln>
        </p:spPr>
      </p:pic>
      <p:sp>
        <p:nvSpPr>
          <p:cNvPr id="131" name="Google Shape;131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10</a:t>
            </a:fld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3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 and Discussion</a:t>
            </a:r>
            <a:endParaRPr/>
          </a:p>
        </p:txBody>
      </p:sp>
      <p:pic>
        <p:nvPicPr>
          <p:cNvPr id="137" name="Google Shape;137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3025" y="1295638"/>
            <a:ext cx="4258975" cy="2981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38" name="Google Shape;138;p23"/>
          <p:cNvPicPr preferRelativeResize="0"/>
          <p:nvPr/>
        </p:nvPicPr>
        <p:blipFill rotWithShape="1">
          <a:blip r:embed="rId4">
            <a:alphaModFix/>
          </a:blip>
          <a:srcRect r="-2965" b="-2965"/>
          <a:stretch/>
        </p:blipFill>
        <p:spPr>
          <a:xfrm>
            <a:off x="4572000" y="1295662"/>
            <a:ext cx="4385283" cy="30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139" name="Google Shape;139;p2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11</a:t>
            </a:fld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Results and Discussion</a:t>
            </a:r>
            <a:endParaRPr/>
          </a:p>
        </p:txBody>
      </p:sp>
      <p:sp>
        <p:nvSpPr>
          <p:cNvPr id="145" name="Google Shape;145;p24"/>
          <p:cNvSpPr txBox="1"/>
          <p:nvPr/>
        </p:nvSpPr>
        <p:spPr>
          <a:xfrm>
            <a:off x="494250" y="1246225"/>
            <a:ext cx="8464500" cy="3101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Finite growth rate (λ): 1.406 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Stable stage structure (SSS): 0.682 0.239 0.079</a:t>
            </a: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Extra: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sz="1800"/>
              <a:t>No growth at λ = 1</a:t>
            </a:r>
            <a:endParaRPr sz="1800"/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sz="1800"/>
              <a:t>Removal (R) balancing the growth rate: </a:t>
            </a:r>
            <a:r>
              <a:rPr lang="de" sz="1800">
                <a:solidFill>
                  <a:schemeClr val="dk1"/>
                </a:solidFill>
              </a:rPr>
              <a:t>1.406*(1-R) = 1</a:t>
            </a:r>
            <a:endParaRPr sz="1800">
              <a:solidFill>
                <a:schemeClr val="dk1"/>
              </a:solidFill>
            </a:endParaRPr>
          </a:p>
          <a:p>
            <a:pPr marL="3657600" lvl="0" indent="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>
                <a:solidFill>
                  <a:schemeClr val="dk1"/>
                </a:solidFill>
              </a:rPr>
              <a:t>            		        R = 0.2888</a:t>
            </a:r>
            <a:endParaRPr sz="1800">
              <a:solidFill>
                <a:schemeClr val="dk1"/>
              </a:solidFill>
            </a:endParaRPr>
          </a:p>
          <a:p>
            <a:pPr marL="45720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-"/>
            </a:pPr>
            <a:r>
              <a:rPr lang="de" sz="1800"/>
              <a:t>Combined with initial abundances consistent with SSS (eg. 682, 239, 79)</a:t>
            </a:r>
            <a:endParaRPr sz="1800"/>
          </a:p>
          <a:p>
            <a:pPr marL="0" lvl="0" indent="4572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de" sz="1800"/>
              <a:t>-&gt; no changes</a:t>
            </a: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/>
          </a:p>
        </p:txBody>
      </p:sp>
      <p:sp>
        <p:nvSpPr>
          <p:cNvPr id="146" name="Google Shape;146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12</a:t>
            </a:fld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p2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de"/>
              <a:t>Results and Discussion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152" name="Google Shape;152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635225" y="1017725"/>
            <a:ext cx="5457272" cy="3820975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2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13</a:t>
            </a:fld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p2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/>
              <a:t>Conclusion</a:t>
            </a:r>
            <a:endParaRPr/>
          </a:p>
        </p:txBody>
      </p:sp>
      <p:sp>
        <p:nvSpPr>
          <p:cNvPr id="159" name="Google Shape;159;p26"/>
          <p:cNvSpPr txBox="1">
            <a:spLocks noGrp="1"/>
          </p:cNvSpPr>
          <p:nvPr>
            <p:ph type="body" idx="1"/>
          </p:nvPr>
        </p:nvSpPr>
        <p:spPr>
          <a:xfrm>
            <a:off x="311700" y="1441000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Our model predicts that a removal of 35% is enough to control the population of cherry guava in few years</a:t>
            </a:r>
            <a:endParaRPr>
              <a:solidFill>
                <a:srgbClr val="000000"/>
              </a:solidFill>
            </a:endParaRPr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Clr>
                <a:srgbClr val="000000"/>
              </a:buClr>
              <a:buSzPts val="1800"/>
              <a:buChar char="-"/>
            </a:pPr>
            <a:r>
              <a:rPr lang="de">
                <a:solidFill>
                  <a:srgbClr val="000000"/>
                </a:solidFill>
              </a:rPr>
              <a:t>Percentage increase in removal makes a huge difference in the growth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160" name="Google Shape;160;p2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14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27"/>
          <p:cNvSpPr txBox="1">
            <a:spLocks noGrp="1"/>
          </p:cNvSpPr>
          <p:nvPr>
            <p:ph type="title"/>
          </p:nvPr>
        </p:nvSpPr>
        <p:spPr>
          <a:xfrm>
            <a:off x="311700" y="1853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de" dirty="0" smtClean="0"/>
              <a:t>Thanks for Your attention!</a:t>
            </a:r>
            <a:br>
              <a:rPr lang="de" dirty="0" smtClean="0"/>
            </a:br>
            <a:r>
              <a:rPr lang="de" dirty="0"/>
              <a:t/>
            </a:r>
            <a:br>
              <a:rPr lang="de" dirty="0"/>
            </a:br>
            <a:r>
              <a:rPr lang="de" dirty="0" smtClean="0"/>
              <a:t>???</a:t>
            </a:r>
            <a:endParaRPr dirty="0"/>
          </a:p>
        </p:txBody>
      </p:sp>
      <p:sp>
        <p:nvSpPr>
          <p:cNvPr id="166" name="Google Shape;166;p2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de"/>
              <a:t>15</a:t>
            </a:fld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625</Words>
  <Application>Microsoft Office PowerPoint</Application>
  <PresentationFormat>On-screen Show (16:9)</PresentationFormat>
  <Paragraphs>126</Paragraphs>
  <Slides>15</Slides>
  <Notes>15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8" baseType="lpstr">
      <vt:lpstr>Arial</vt:lpstr>
      <vt:lpstr>Roboto Mono</vt:lpstr>
      <vt:lpstr>Simple Light</vt:lpstr>
      <vt:lpstr>PowerPoint Presentation</vt:lpstr>
      <vt:lpstr>Outline</vt:lpstr>
      <vt:lpstr>Introduction</vt:lpstr>
      <vt:lpstr>The Problem</vt:lpstr>
      <vt:lpstr>Why Matrix Model?</vt:lpstr>
      <vt:lpstr>Matrix Model</vt:lpstr>
      <vt:lpstr>Project Steps</vt:lpstr>
      <vt:lpstr>R-code for Step 1</vt:lpstr>
      <vt:lpstr>R-code for Step 2, 3 and 4</vt:lpstr>
      <vt:lpstr>PowerPoint Presentation</vt:lpstr>
      <vt:lpstr>Results and Discussion</vt:lpstr>
      <vt:lpstr>Results and Discussion</vt:lpstr>
      <vt:lpstr>Results and Discussion </vt:lpstr>
      <vt:lpstr>Conclusion</vt:lpstr>
      <vt:lpstr>Thanks for Your attention!  ???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David Nwoye</dc:creator>
  <cp:lastModifiedBy>David Nwoye</cp:lastModifiedBy>
  <cp:revision>4</cp:revision>
  <dcterms:modified xsi:type="dcterms:W3CDTF">2026-03-31T10:58:44Z</dcterms:modified>
</cp:coreProperties>
</file>